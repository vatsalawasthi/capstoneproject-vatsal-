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Mutual Fund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Capstone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28346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Data Analytics Pipeline — 6 Days of 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41148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Vatsal Awasthi  |  June–July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7432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051560"/>
            <a:ext cx="1261872" cy="1005840"/>
          </a:xfrm>
          <a:prstGeom prst="roundRect">
            <a:avLst>
              <a:gd name="adj" fmla="val 9091"/>
            </a:avLst>
          </a:prstGeom>
          <a:solidFill>
            <a:srgbClr val="EBF3FB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161288"/>
            <a:ext cx="1261872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634947"/>
            <a:ext cx="1261872" cy="38221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Fund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783080" y="1051560"/>
            <a:ext cx="1261872" cy="1005840"/>
          </a:xfrm>
          <a:prstGeom prst="roundRect">
            <a:avLst>
              <a:gd name="adj" fmla="val 9091"/>
            </a:avLst>
          </a:prstGeom>
          <a:solidFill>
            <a:srgbClr val="EBF3FB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783080" y="1161288"/>
            <a:ext cx="1261872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783080" y="1634947"/>
            <a:ext cx="1261872" cy="38221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1051560"/>
            <a:ext cx="1261872" cy="1005840"/>
          </a:xfrm>
          <a:prstGeom prst="roundRect">
            <a:avLst>
              <a:gd name="adj" fmla="val 9091"/>
            </a:avLst>
          </a:prstGeom>
          <a:solidFill>
            <a:srgbClr val="EBF3FB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00400" y="1161288"/>
            <a:ext cx="1261872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46K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200400" y="1634947"/>
            <a:ext cx="1261872" cy="38221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17720" y="1051560"/>
            <a:ext cx="1261872" cy="1005840"/>
          </a:xfrm>
          <a:prstGeom prst="roundRect">
            <a:avLst>
              <a:gd name="adj" fmla="val 9091"/>
            </a:avLst>
          </a:prstGeom>
          <a:solidFill>
            <a:srgbClr val="EBF3FB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17720" y="1161288"/>
            <a:ext cx="1261872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32.8K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617720" y="1634947"/>
            <a:ext cx="1261872" cy="38221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1051560"/>
            <a:ext cx="1261872" cy="1005840"/>
          </a:xfrm>
          <a:prstGeom prst="roundRect">
            <a:avLst>
              <a:gd name="adj" fmla="val 9091"/>
            </a:avLst>
          </a:prstGeom>
          <a:solidFill>
            <a:srgbClr val="EBF3FB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035040" y="1161288"/>
            <a:ext cx="1261872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035040" y="1634947"/>
            <a:ext cx="1261872" cy="38221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452360" y="1051560"/>
            <a:ext cx="1261872" cy="1005840"/>
          </a:xfrm>
          <a:prstGeom prst="roundRect">
            <a:avLst>
              <a:gd name="adj" fmla="val 9091"/>
            </a:avLst>
          </a:prstGeom>
          <a:solidFill>
            <a:srgbClr val="EBF3FB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452360" y="1161288"/>
            <a:ext cx="1261872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7452360" y="1634947"/>
            <a:ext cx="1261872" cy="38221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22860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57200" y="2697480"/>
            <a:ext cx="41148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3.14 — pandas, numpy, scipy, matplotlib, seaborn, plotly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+ SQLAlchemy — star schema with 11 tables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Notebooks — 5 analytical notebooks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Desktop — 4-page interactive dashboard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— version controlled, 7 commits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754880" y="22860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754880" y="2697480"/>
            <a:ext cx="39319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raw CSV files from Bluestock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 history: Jan 2022 – May 2026 (4.4 years)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46,000 trading-day NAV observations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32,778 investor transactions, 5,000 investors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benchmark indices (NIFTY50, NIFTY100, etc.)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holdings for 34 equity funds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527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192024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Setup + Data Ingestion (ETL)</a:t>
            </a:r>
            <a:endParaRPr lang="en-US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Data Ingestion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27432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601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Done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4114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all 10 CSV datasets using pandas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Profiled each file: shape, dtypes, head, anomalies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 null columns, duplicates, empty columns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AMFI code consistency across files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Fetched live NAV from mfapi.in for 6 schemes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data quality summary report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754880" y="9601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754880" y="1325880"/>
            <a:ext cx="39319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schemes × 1,150 trading days = 46,000 rows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weekday dates — zero weekend NAV rows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fund houses, 5 risk grades, 15 sub-categories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AMFI codes consistent between fund_master and nav_history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mismatch: code 125497 returned SBI Small Cap, not HDFC Top 100 as labeled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3749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scripts/etl_pipeline.py  •  scripts/live_nav_fetch.py  •  requirements.txt  •  reports/day1_data_quality_summary.md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618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192024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+ SQL Database Design</a:t>
            </a:r>
            <a:endParaRPr lang="en-US" sz="3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Data Cleaning + SQL Design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27432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Rules Applied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4114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nav_history: forward-fill weekends/holidays → 46K→64K rows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investor_transactions: standardised SIP/Lumpsum/Redemption enum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scheme_performance: validated returns numeric, expense ratio 0.1–2.5%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liquid funds flagged for extreme Sharpe ratio (expected behavior)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supporting CSVs: basic dedup + type validation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754880" y="9144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 (11 Tables)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754880" y="1280160"/>
            <a:ext cx="39319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dim_fund (40 rows) — fund master dimension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dim_date (1,612 rows) — calendar dimension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fact_nav (64,320 rows) — daily NAV per fund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fact_transactions (32,778 rows) — investor transactions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fact_performance (40 rows) — performance snapshot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fact_aum (90 rows) — AUM by fund house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+ 5 reference tables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Analytical SQL Queries — Top findings: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7490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Mirae Asset Emerging Bluechip leads by AUM (₹49,046 Cr)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 inflows grew from ₹11,517 Cr (2022) to ₹31,002 Cr (2025)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Punjab leads by transaction count (2,965 transactions)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sector dominates portfolio holdings (₹62,840 Cr, 19.3%)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7A6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192024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(EDA)</a:t>
            </a:r>
            <a:endParaRPr lang="en-US" sz="3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EDA: 15+ Charts, 10 Findings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27432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00584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EBF3FB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0972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 Trend (Plotly)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1389888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40 schemes 2022–2026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~12-14% YoY growth, no visible correction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200400" y="100584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EBF3FB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0" y="10972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 Growth (Seaborn)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0" y="1389888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Grouped bar by fund house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SBI leads at ₹12.5L Cr by 2025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080760" y="100584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EBF3FB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080760" y="10972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 Inflow (Plotly)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080760" y="1389888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trend Jan 2022–Dec 2025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All-time high: ₹31,002 Cr (Dec 2025)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" y="233172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EBF3FB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20040" y="24231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Heatmap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0040" y="2715768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inflows by category/month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Cap &gt; Large Cap in FY25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0" y="233172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EBF3FB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200400" y="24231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00400" y="2715768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26–35 age group 40.7%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66.7% Male, 33.3% Female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080760" y="233172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EBF3FB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080760" y="24231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080760" y="2715768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Punjab + MP + Tamil Nadu top states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T30 cities 2:1 over B30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" y="365760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EBF3FB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20040" y="37490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Folio Growth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0040" y="4041648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13.26 Cr → 26.12 Cr (+97%)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Crossed 20 Cr milestone Oct 2024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0" y="365760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EBF3FB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200400" y="37490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Matrix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200400" y="4041648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Near-zero correlations across all funds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characteristic, not market insight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080760" y="365760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EBF3FB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080760" y="37490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Donut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080760" y="4041648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dominates: ₹62,840 Cr (19.3%)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and Pharma round out top 3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6E2F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192024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Performance Analytics</a:t>
            </a:r>
            <a:endParaRPr lang="en-US" sz="3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— Performance Metrics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27432"/>
          </a:xfrm>
          <a:prstGeom prst="rect">
            <a:avLst/>
          </a:prstGeom>
          <a:solidFill>
            <a:srgbClr val="6E2FD4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96012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EBF3FB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0515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Returns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20040" y="1371600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45,960 obs across 40 funds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Laplace-like distribution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00400" y="96012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EBF3FB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0" y="10515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 1yr/3yr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0" y="1371600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1yr: -42.8% to +82.9%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3yr: Axis Midcap 35.1%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080760" y="96012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EBF3FB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080760" y="10515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 Ratio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080760" y="1371600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= 6.5% (RBI repo rate)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all 40 funds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0040" y="228600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EBF3FB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20040" y="23774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Sortino Ratio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0040" y="2697480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Downside deviation only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Amplifies Sharpe spread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0" y="228600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EBF3FB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200400" y="23774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&amp; Beta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200400" y="2697480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OLS vs Nifty 100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R² &lt; 1% (data characteristic)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080760" y="228600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EBF3FB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080760" y="23774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Drawdown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080760" y="2697480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-0.1% (Liquid) to -52.6% (Small Cap)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+ trough dates recorded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57200" y="45262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Scorecard: 30% × 3yr return + 25% × Sharpe + 20% × Alpha + 15% × expense ratio (inv.) + 10% × max drawdown (inv.)  →  Score range: 12–86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B77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192024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 (4 Pages)</a:t>
            </a:r>
            <a:endParaRPr lang="en-US" sz="3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 — Power BI Dashboard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27432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005840"/>
            <a:ext cx="3931920" cy="1600200"/>
          </a:xfrm>
          <a:prstGeom prst="roundRect">
            <a:avLst>
              <a:gd name="adj" fmla="val 5714"/>
            </a:avLst>
          </a:prstGeom>
          <a:solidFill>
            <a:srgbClr val="EBF3FB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0972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Overview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0040" y="1554480"/>
            <a:ext cx="3931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cards: Total AUM, SIP Inflows,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Folios, Schemes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 trend line + AUM by fund house bar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0" y="1005840"/>
            <a:ext cx="3931920" cy="1600200"/>
          </a:xfrm>
          <a:prstGeom prst="roundRect">
            <a:avLst>
              <a:gd name="adj" fmla="val 5714"/>
            </a:avLst>
          </a:prstGeom>
          <a:solidFill>
            <a:srgbClr val="EBF3FB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0" y="10972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Performance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0" y="1554480"/>
            <a:ext cx="3931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vs Risk scatter (bubble = AUM)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Sortable fund scorecard table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 vs Benchmark line chart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Slicers: fund house, category, plan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2834640"/>
            <a:ext cx="3931920" cy="1600200"/>
          </a:xfrm>
          <a:prstGeom prst="roundRect">
            <a:avLst>
              <a:gd name="adj" fmla="val 5714"/>
            </a:avLst>
          </a:prstGeom>
          <a:solidFill>
            <a:srgbClr val="EBF3FB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0040" y="29260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Analytics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0040" y="3383280"/>
            <a:ext cx="3931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 amount by age group bar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type donut chart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 amount by state horizontal bar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transaction volume line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0" y="2834640"/>
            <a:ext cx="3931920" cy="1600200"/>
          </a:xfrm>
          <a:prstGeom prst="roundRect">
            <a:avLst>
              <a:gd name="adj" fmla="val 5714"/>
            </a:avLst>
          </a:prstGeom>
          <a:solidFill>
            <a:srgbClr val="EBF3FB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0" y="29260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4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 &amp; Market Trends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0" y="3383280"/>
            <a:ext cx="3931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Dual-axis: SIP inflow + Nifty 50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inflow matrix heatmap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categories by net inflow FY25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922B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192024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Analytics + Risk Metrics</a:t>
            </a:r>
            <a:endParaRPr lang="en-US" sz="3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 — Advanced Risk Analytics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2743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960120"/>
            <a:ext cx="2651760" cy="1234440"/>
          </a:xfrm>
          <a:prstGeom prst="roundRect">
            <a:avLst>
              <a:gd name="adj" fmla="val 5926"/>
            </a:avLst>
          </a:prstGeom>
          <a:solidFill>
            <a:srgbClr val="EBF3FB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0515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VaR (95%)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1371600"/>
            <a:ext cx="265176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5th percentile of daily returns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Cap worst: -3.5%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 best: near 0%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200400" y="960120"/>
            <a:ext cx="2651760" cy="1234440"/>
          </a:xfrm>
          <a:prstGeom prst="roundRect">
            <a:avLst>
              <a:gd name="adj" fmla="val 5926"/>
            </a:avLst>
          </a:prstGeom>
          <a:solidFill>
            <a:srgbClr val="EBF3FB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0" y="10515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CVaR (95%)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0" y="1371600"/>
            <a:ext cx="265176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return below VaR threshold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Shortfall measure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worse than VaR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080760" y="960120"/>
            <a:ext cx="2651760" cy="1234440"/>
          </a:xfrm>
          <a:prstGeom prst="roundRect">
            <a:avLst>
              <a:gd name="adj" fmla="val 5926"/>
            </a:avLst>
          </a:prstGeom>
          <a:solidFill>
            <a:srgbClr val="EBF3FB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080760" y="10515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90-Day Sharpe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080760" y="1371600"/>
            <a:ext cx="265176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key funds plotted over time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volatile — consistent with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independently-generated NAV series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" y="2331720"/>
            <a:ext cx="2651760" cy="1234440"/>
          </a:xfrm>
          <a:prstGeom prst="roundRect">
            <a:avLst>
              <a:gd name="adj" fmla="val 5926"/>
            </a:avLst>
          </a:prstGeom>
          <a:solidFill>
            <a:srgbClr val="EBF3FB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20040" y="24231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Cohort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0040" y="2743200"/>
            <a:ext cx="265176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cohort: 4,624 investors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cohort: 138 investors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fund: ICICI Pru Bluechip Direct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0" y="2331720"/>
            <a:ext cx="2651760" cy="1234440"/>
          </a:xfrm>
          <a:prstGeom prst="roundRect">
            <a:avLst>
              <a:gd name="adj" fmla="val 5926"/>
            </a:avLst>
          </a:prstGeom>
          <a:solidFill>
            <a:srgbClr val="EBF3FB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200400" y="24231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 Continuity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00400" y="2743200"/>
            <a:ext cx="265176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1,362 investors with 6+ SIPs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97.8% flagged at-risk (gap &gt; 35 days)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Reflects non-monthly transaction dates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080760" y="2331720"/>
            <a:ext cx="2651760" cy="1234440"/>
          </a:xfrm>
          <a:prstGeom prst="roundRect">
            <a:avLst>
              <a:gd name="adj" fmla="val 5926"/>
            </a:avLst>
          </a:prstGeom>
          <a:solidFill>
            <a:srgbClr val="EBF3FB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080760" y="24231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HHI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080760" y="2743200"/>
            <a:ext cx="265176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73.5% of equity funds: Low concentration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26.5%: Moderate concentration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fund in 'High' concentration range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Across All 6 Days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27432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60120"/>
            <a:ext cx="822960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SBI Mutual Fund is the clear AUM leader at ₹12.5 lakh crore by 2025 — nearly double its 2022 AUM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SIP inflows grew 2.7× from ₹11,517 Cr (Jan 2022) to ₹31,002 Cr (Dec 2025) — all-time high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Investor folio count doubled from 13.26 Cr to 26.12 Cr — crossed 20 Cr milestone in Oct 2024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Banking sector dominates equity holdings at ₹62,840 Cr (19.3% of all equity fund holdings)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26–35 age group is the largest investor cohort (40.7%); 66.7% of investors are male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T30 cities account for 66.7% of investors and 2× the SIP value of B30 cities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NAV return correlations near zero across all 40 funds — including between plans of the same fund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Small Cap funds carry highest VaR (-3.5%) and CVaR; Liquid funds closest to zero risk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NAV growth is steady at ~12-14%/year — no visible 2024 correction in the dataset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73.5% of equity funds show Low HHI sector concentration — well-diversified portfolios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F3A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Complete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48640" y="19202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Mutual Fund Analytics Capstone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286000" y="2560320"/>
            <a:ext cx="45720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days of structured analytics work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Jupyter notebooks with real computed metrics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4-page Power BI interactive dashboard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11-table SQLite star schema + 10 SQL queries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mutual funds analysed across 4.4 years of data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47091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Vatsal Awasthi  |  Bluestock Internship  |  June–July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Bluestock Mutual Fund Analytics — Capstone</dc:title>
  <dc:subject>PptxGenJS Presentation</dc:subject>
  <dc:creator>Vatsal Awasthi</dc:creator>
  <cp:lastModifiedBy>Vatsal Awasthi</cp:lastModifiedBy>
  <cp:revision>1</cp:revision>
  <dcterms:created xsi:type="dcterms:W3CDTF">2026-07-03T08:44:40Z</dcterms:created>
  <dcterms:modified xsi:type="dcterms:W3CDTF">2026-07-03T08:44:40Z</dcterms:modified>
</cp:coreProperties>
</file>